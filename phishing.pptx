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T Supermolot Neue Bold" charset="1" panose="02000803030000020004"/>
      <p:regular r:id="rId21"/>
    </p:embeddedFont>
    <p:embeddedFont>
      <p:font typeface="Eastman Grotesque"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alwarebytes.com/cybersecurity/basics/pii"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alwarebytes.com/cybersecurity/basics/pii" TargetMode="External" Type="http://schemas.openxmlformats.org/officeDocument/2006/relationships/hyperlink"/><Relationship Id="rId3" Target="https://www.malwarebytes.com/exploits" TargetMode="External" Type="http://schemas.openxmlformats.org/officeDocument/2006/relationships/hyperlink"/><Relationship Id="rId4" Target="https://www.malwarebytes.com/malware"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aura.com/learn/how-to-identify-fake-websites#10.-Don%E2%80%99t-be-conned-by-%E2%80%9Ctrust-signals%E2%80%9D-(awards,-security-logos,-etc.)" TargetMode="External" Type="http://schemas.openxmlformats.org/officeDocument/2006/relationships/hyperlink"/><Relationship Id="rId11" Target="https://www.aura.com/learn/how-to-identify-fake-websites#11.-Run-a-virus-scan-if-you-experience-numerous-ads-and-pop-ups" TargetMode="External" Type="http://schemas.openxmlformats.org/officeDocument/2006/relationships/hyperlink"/><Relationship Id="rId2" Target="https://www.aura.com/learn/how-to-identify-fake-websites#1.-Check-the-domain-name-closely" TargetMode="External" Type="http://schemas.openxmlformats.org/officeDocument/2006/relationships/hyperlink"/><Relationship Id="rId3" Target="https://www.aura.com/learn/how-to-identify-fake-websites#2.-Look-for-a-padlock-symbol-(but-don%E2%80%99t-trust-it-as-a-sole-means-of-verification)" TargetMode="External" Type="http://schemas.openxmlformats.org/officeDocument/2006/relationships/hyperlink"/><Relationship Id="rId4" Target="https://www.aura.com/learn/how-to-identify-fake-websites#3.-Use-a-website-checker-or-safe-browsing-tools" TargetMode="External" Type="http://schemas.openxmlformats.org/officeDocument/2006/relationships/hyperlink"/><Relationship Id="rId5" Target="https://www.aura.com/learn/how-to-identify-fake-websites#4.-Look-for-poor-spelling,-design-issues,-and-other-red-flags" TargetMode="External" Type="http://schemas.openxmlformats.org/officeDocument/2006/relationships/hyperlink"/><Relationship Id="rId6" Target="https://www.aura.com/learn/how-to-identify-fake-websites#6.-Be-wary-of-deals-that-seem-too-good-to-be-true" TargetMode="External" Type="http://schemas.openxmlformats.org/officeDocument/2006/relationships/hyperlink"/><Relationship Id="rId7" Target="https://www.aura.com/learn/how-to-identify-fake-websites#7.-Look-for-user-reviews,-and-check-for-reports-of-scams" TargetMode="External" Type="http://schemas.openxmlformats.org/officeDocument/2006/relationships/hyperlink"/><Relationship Id="rId8" Target="https://www.aura.com/learn/how-to-identify-fake-websites#8.-Read-the-shipping-and-return-policy" TargetMode="External" Type="http://schemas.openxmlformats.org/officeDocument/2006/relationships/hyperlink"/><Relationship Id="rId9" Target="https://www.aura.com/learn/how-to-identify-fake-websites#9.-Beware-of-non---traditional-payment-options"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140976"/>
            <a:ext cx="18288000" cy="9852648"/>
          </a:xfrm>
          <a:prstGeom prst="rect">
            <a:avLst/>
          </a:prstGeom>
        </p:spPr>
        <p:txBody>
          <a:bodyPr anchor="t" rtlCol="false" tIns="0" lIns="0" bIns="0" rIns="0">
            <a:spAutoFit/>
          </a:bodyPr>
          <a:lstStyle/>
          <a:p>
            <a:pPr algn="ctr">
              <a:lnSpc>
                <a:spcPts val="9940"/>
              </a:lnSpc>
            </a:pPr>
            <a:r>
              <a:rPr lang="en-US" b="true" sz="7100">
                <a:solidFill>
                  <a:srgbClr val="00E8FF"/>
                </a:solidFill>
                <a:latin typeface="TT Supermolot Neue Bold"/>
                <a:ea typeface="TT Supermolot Neue Bold"/>
                <a:cs typeface="TT Supermolot Neue Bold"/>
                <a:sym typeface="TT Supermolot Neue Bold"/>
              </a:rPr>
              <a:t>WHAT IS PHISHING? </a:t>
            </a:r>
          </a:p>
          <a:p>
            <a:pPr algn="ctr">
              <a:lnSpc>
                <a:spcPts val="8540"/>
              </a:lnSpc>
            </a:pPr>
            <a:r>
              <a:rPr lang="en-US" sz="6100">
                <a:solidFill>
                  <a:srgbClr val="FFFFFF"/>
                </a:solidFill>
                <a:latin typeface="Eastman Grotesque"/>
                <a:ea typeface="Eastman Grotesque"/>
                <a:cs typeface="Eastman Grotesque"/>
                <a:sym typeface="Eastman Grotesque"/>
              </a:rPr>
              <a:t>Phishing is a form of cybercrime when criminals try to obtain sensitive information from you via email with fraudulent links, prompting you to fill out a form with your </a:t>
            </a:r>
            <a:r>
              <a:rPr lang="en-US" sz="6100" u="sng">
                <a:solidFill>
                  <a:srgbClr val="FFFFFF"/>
                </a:solidFill>
                <a:latin typeface="Eastman Grotesque"/>
                <a:ea typeface="Eastman Grotesque"/>
                <a:cs typeface="Eastman Grotesque"/>
                <a:sym typeface="Eastman Grotesque"/>
                <a:hlinkClick r:id="rId2" tooltip="https://www.malwarebytes.com/cybersecurity/basics/pii"/>
              </a:rPr>
              <a:t>personally identifiable information</a:t>
            </a:r>
            <a:r>
              <a:rPr lang="en-US" sz="6100">
                <a:solidFill>
                  <a:srgbClr val="FFFFFF"/>
                </a:solidFill>
                <a:latin typeface="Eastman Grotesque"/>
                <a:ea typeface="Eastman Grotesque"/>
                <a:cs typeface="Eastman Grotesque"/>
                <a:sym typeface="Eastman Grotesque"/>
              </a:rPr>
              <a:t>. They can then use this information to get your online credentials for social media profiles, bank accounts and more.</a:t>
            </a:r>
          </a:p>
          <a:p>
            <a:pPr algn="ctr">
              <a:lnSpc>
                <a:spcPts val="854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4819967"/>
            <a:ext cx="18288000" cy="2980690"/>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Eastman Grotesque"/>
                <a:ea typeface="Eastman Grotesque"/>
                <a:cs typeface="Eastman Grotesque"/>
                <a:sym typeface="Eastman Grotesque"/>
              </a:rPr>
              <a:t>A phishing email is a fraud message crafted to trick recipients into revealing </a:t>
            </a:r>
            <a:r>
              <a:rPr lang="en-US" sz="3399" u="sng">
                <a:solidFill>
                  <a:srgbClr val="FFFFFF"/>
                </a:solidFill>
                <a:latin typeface="Eastman Grotesque"/>
                <a:ea typeface="Eastman Grotesque"/>
                <a:cs typeface="Eastman Grotesque"/>
                <a:sym typeface="Eastman Grotesque"/>
                <a:hlinkClick r:id="rId2" tooltip="https://www.malwarebytes.com/cybersecurity/basics/pii"/>
              </a:rPr>
              <a:t>sensitive information</a:t>
            </a:r>
            <a:r>
              <a:rPr lang="en-US" sz="3399">
                <a:solidFill>
                  <a:srgbClr val="FFFFFF"/>
                </a:solidFill>
                <a:latin typeface="Eastman Grotesque"/>
                <a:ea typeface="Eastman Grotesque"/>
                <a:cs typeface="Eastman Grotesque"/>
                <a:sym typeface="Eastman Grotesque"/>
              </a:rPr>
              <a:t> like passwords, credit card numbers, otp. These emails often imitate legitimate sources, like banks or popular websites, to appear credible. They aim to </a:t>
            </a:r>
            <a:r>
              <a:rPr lang="en-US" sz="3399" u="sng">
                <a:solidFill>
                  <a:srgbClr val="FFFFFF"/>
                </a:solidFill>
                <a:latin typeface="Eastman Grotesque"/>
                <a:ea typeface="Eastman Grotesque"/>
                <a:cs typeface="Eastman Grotesque"/>
                <a:sym typeface="Eastman Grotesque"/>
                <a:hlinkClick r:id="rId3" tooltip="https://www.malwarebytes.com/exploits"/>
              </a:rPr>
              <a:t>exploit</a:t>
            </a:r>
            <a:r>
              <a:rPr lang="en-US" sz="3399">
                <a:solidFill>
                  <a:srgbClr val="FFFFFF"/>
                </a:solidFill>
                <a:latin typeface="Eastman Grotesque"/>
                <a:ea typeface="Eastman Grotesque"/>
                <a:cs typeface="Eastman Grotesque"/>
                <a:sym typeface="Eastman Grotesque"/>
              </a:rPr>
              <a:t> a person’s trust in these institutions, persuading them to provide personal information, clicking on malicious links, or download attachments containing </a:t>
            </a:r>
            <a:r>
              <a:rPr lang="en-US" sz="3399" u="sng">
                <a:solidFill>
                  <a:srgbClr val="FFFFFF"/>
                </a:solidFill>
                <a:latin typeface="Eastman Grotesque"/>
                <a:ea typeface="Eastman Grotesque"/>
                <a:cs typeface="Eastman Grotesque"/>
                <a:sym typeface="Eastman Grotesque"/>
                <a:hlinkClick r:id="rId4" tooltip="https://www.malwarebytes.com/malware"/>
              </a:rPr>
              <a:t>malware</a:t>
            </a:r>
            <a:r>
              <a:rPr lang="en-US" sz="3399">
                <a:solidFill>
                  <a:srgbClr val="FFFFFF"/>
                </a:solidFill>
                <a:latin typeface="Eastman Grotesque"/>
                <a:ea typeface="Eastman Grotesque"/>
                <a:cs typeface="Eastman Grotesque"/>
                <a:sym typeface="Eastman Grotesque"/>
              </a:rPr>
              <a:t>.</a:t>
            </a:r>
          </a:p>
        </p:txBody>
      </p:sp>
      <p:sp>
        <p:nvSpPr>
          <p:cNvPr name="TextBox 3" id="3"/>
          <p:cNvSpPr txBox="true"/>
          <p:nvPr/>
        </p:nvSpPr>
        <p:spPr>
          <a:xfrm rot="0">
            <a:off x="1945151" y="2109980"/>
            <a:ext cx="13950435" cy="1576069"/>
          </a:xfrm>
          <a:prstGeom prst="rect">
            <a:avLst/>
          </a:prstGeom>
        </p:spPr>
        <p:txBody>
          <a:bodyPr anchor="t" rtlCol="false" tIns="0" lIns="0" bIns="0" rIns="0">
            <a:spAutoFit/>
          </a:bodyPr>
          <a:lstStyle/>
          <a:p>
            <a:pPr algn="ctr">
              <a:lnSpc>
                <a:spcPts val="12880"/>
              </a:lnSpc>
            </a:pPr>
            <a:r>
              <a:rPr lang="en-US" b="true" sz="9200">
                <a:solidFill>
                  <a:srgbClr val="00E8FF"/>
                </a:solidFill>
                <a:latin typeface="TT Supermolot Neue Bold"/>
                <a:ea typeface="TT Supermolot Neue Bold"/>
                <a:cs typeface="TT Supermolot Neue Bold"/>
                <a:sym typeface="TT Supermolot Neue Bold"/>
              </a:rPr>
              <a:t>WHAT IS PHISHING EMAIL?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705485"/>
            <a:ext cx="18288000" cy="9581515"/>
          </a:xfrm>
          <a:prstGeom prst="rect">
            <a:avLst/>
          </a:prstGeom>
        </p:spPr>
        <p:txBody>
          <a:bodyPr anchor="t" rtlCol="false" tIns="0" lIns="0" bIns="0" rIns="0">
            <a:spAutoFit/>
          </a:bodyPr>
          <a:lstStyle/>
          <a:p>
            <a:pPr algn="l">
              <a:lnSpc>
                <a:spcPts val="4759"/>
              </a:lnSpc>
            </a:pPr>
            <a:r>
              <a:rPr lang="en-US" sz="3399">
                <a:solidFill>
                  <a:srgbClr val="FFFFFF"/>
                </a:solidFill>
                <a:latin typeface="Eastman Grotesque"/>
                <a:ea typeface="Eastman Grotesque"/>
                <a:cs typeface="Eastman Grotesque"/>
                <a:sym typeface="Eastman Grotesque"/>
              </a:rPr>
              <a:t>Over 300 Crores phishing emails are sent every day, including suspicious sender domains, urgent or threatening language, unexpected attachments or links, generic greetings, and mismatched URLs revealed by hovering over a hyperlink.</a:t>
            </a:r>
          </a:p>
          <a:p>
            <a:pPr algn="l">
              <a:lnSpc>
                <a:spcPts val="4759"/>
              </a:lnSpc>
            </a:pPr>
            <a:r>
              <a:rPr lang="en-US" sz="3399">
                <a:solidFill>
                  <a:srgbClr val="FFFFFF"/>
                </a:solidFill>
                <a:latin typeface="Eastman Grotesque"/>
                <a:ea typeface="Eastman Grotesque"/>
                <a:cs typeface="Eastman Grotesque"/>
                <a:sym typeface="Eastman Grotesque"/>
              </a:rPr>
              <a:t>Here are 10 signs to identify phishing emails</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Suspicious </a:t>
            </a:r>
            <a:r>
              <a:rPr lang="en-US" sz="3399" u="none">
                <a:solidFill>
                  <a:srgbClr val="FFFFFF"/>
                </a:solidFill>
                <a:latin typeface="Eastman Grotesque"/>
                <a:ea typeface="Eastman Grotesque"/>
                <a:cs typeface="Eastman Grotesque"/>
                <a:sym typeface="Eastman Grotesque"/>
              </a:rPr>
              <a:t>s</a:t>
            </a:r>
            <a:r>
              <a:rPr lang="en-US" sz="3399">
                <a:solidFill>
                  <a:srgbClr val="FFFFFF"/>
                </a:solidFill>
                <a:latin typeface="Eastman Grotesque"/>
                <a:ea typeface="Eastman Grotesque"/>
                <a:cs typeface="Eastman Grotesque"/>
                <a:sym typeface="Eastman Grotesque"/>
              </a:rPr>
              <a:t>ender address or domain</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Urgent or threatening language</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Unexpected attachments or links</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Generic greetings</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Poor grammar or formatting</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Requests for sensitive information</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Mismatched URLs (hover trick)</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Fake login pages or branding inconsistencies</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Odd timing or context</a:t>
            </a:r>
          </a:p>
          <a:p>
            <a:pPr algn="l" marL="734056" indent="-367028" lvl="1">
              <a:lnSpc>
                <a:spcPts val="4759"/>
              </a:lnSpc>
              <a:buFont typeface="Arial"/>
              <a:buChar char="•"/>
            </a:pPr>
            <a:r>
              <a:rPr lang="en-US" sz="3399">
                <a:solidFill>
                  <a:srgbClr val="FFFFFF"/>
                </a:solidFill>
                <a:latin typeface="Eastman Grotesque"/>
                <a:ea typeface="Eastman Grotesque"/>
                <a:cs typeface="Eastman Grotesque"/>
                <a:sym typeface="Eastman Grotesque"/>
              </a:rPr>
              <a:t>Too-good-to-be-true offers</a:t>
            </a:r>
          </a:p>
          <a:p>
            <a:pPr algn="ctr">
              <a:lnSpc>
                <a:spcPts val="4759"/>
              </a:lnSpc>
            </a:pPr>
          </a:p>
          <a:p>
            <a:pPr algn="ctr">
              <a:lnSpc>
                <a:spcPts val="475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276874"/>
            <a:ext cx="18937284" cy="10181576"/>
          </a:xfrm>
          <a:prstGeom prst="rect">
            <a:avLst/>
          </a:prstGeom>
        </p:spPr>
        <p:txBody>
          <a:bodyPr anchor="t" rtlCol="false" tIns="0" lIns="0" bIns="0" rIns="0">
            <a:spAutoFit/>
          </a:bodyPr>
          <a:lstStyle/>
          <a:p>
            <a:pPr algn="l">
              <a:lnSpc>
                <a:spcPts val="4760"/>
              </a:lnSpc>
            </a:pPr>
            <a:r>
              <a:rPr lang="en-US" sz="3400">
                <a:solidFill>
                  <a:srgbClr val="FFFFFF"/>
                </a:solidFill>
                <a:latin typeface="Eastman Grotesque"/>
                <a:ea typeface="Eastman Grotesque"/>
                <a:cs typeface="Eastman Grotesque"/>
                <a:sym typeface="Eastman Grotesque"/>
              </a:rPr>
              <a:t>Many fake websites closely mimic trusted brands like Amazon, Netflix, postal services, and others. They attract you to sales or giveaways that are too good to be true — like iPhones and shopping vouchers. Set up by scammers, these sites aim to steal your information, money, and even </a:t>
            </a:r>
          </a:p>
          <a:p>
            <a:pPr algn="l">
              <a:lnSpc>
                <a:spcPts val="4760"/>
              </a:lnSpc>
            </a:pPr>
            <a:r>
              <a:rPr lang="en-US" sz="3400">
                <a:solidFill>
                  <a:srgbClr val="FFFFFF"/>
                </a:solidFill>
                <a:latin typeface="Eastman Grotesque"/>
                <a:ea typeface="Eastman Grotesque"/>
                <a:cs typeface="Eastman Grotesque"/>
                <a:sym typeface="Eastman Grotesque"/>
              </a:rPr>
              <a:t>identity.From a security standpoint, look for domain names that appear almost like real ones but have small differences (this is called typosquatting). </a:t>
            </a:r>
          </a:p>
          <a:p>
            <a:pPr algn="l">
              <a:lnSpc>
                <a:spcPts val="4760"/>
              </a:lnSpc>
            </a:pPr>
            <a:r>
              <a:rPr lang="en-US" sz="3400">
                <a:solidFill>
                  <a:srgbClr val="00E8FF"/>
                </a:solidFill>
                <a:latin typeface="Eastman Grotesque"/>
                <a:ea typeface="Eastman Grotesque"/>
                <a:cs typeface="Eastman Grotesque"/>
                <a:sym typeface="Eastman Grotesque"/>
              </a:rPr>
              <a:t>some fake websites eg. are</a:t>
            </a:r>
          </a:p>
          <a:p>
            <a:pPr algn="l">
              <a:lnSpc>
                <a:spcPts val="4760"/>
              </a:lnSpc>
            </a:pPr>
            <a:r>
              <a:rPr lang="en-US" sz="3400">
                <a:solidFill>
                  <a:srgbClr val="00E8FF"/>
                </a:solidFill>
                <a:latin typeface="Eastman Grotesque"/>
                <a:ea typeface="Eastman Grotesque"/>
                <a:cs typeface="Eastman Grotesque"/>
                <a:sym typeface="Eastman Grotesque"/>
              </a:rPr>
              <a:t>Netflix Login Page</a:t>
            </a:r>
          </a:p>
          <a:p>
            <a:pPr algn="l">
              <a:lnSpc>
                <a:spcPts val="4760"/>
              </a:lnSpc>
            </a:pPr>
            <a:r>
              <a:rPr lang="en-US" sz="3400">
                <a:solidFill>
                  <a:srgbClr val="00E8FF"/>
                </a:solidFill>
                <a:latin typeface="Eastman Grotesque"/>
                <a:ea typeface="Eastman Grotesque"/>
                <a:cs typeface="Eastman Grotesque"/>
                <a:sym typeface="Eastman Grotesque"/>
              </a:rPr>
              <a:t>Fake Booking.com Reservation Page</a:t>
            </a:r>
          </a:p>
          <a:p>
            <a:pPr algn="l">
              <a:lnSpc>
                <a:spcPts val="4760"/>
              </a:lnSpc>
            </a:pPr>
            <a:r>
              <a:rPr lang="en-US" sz="3400">
                <a:solidFill>
                  <a:srgbClr val="00E8FF"/>
                </a:solidFill>
                <a:latin typeface="Eastman Grotesque"/>
                <a:ea typeface="Eastman Grotesque"/>
                <a:cs typeface="Eastman Grotesque"/>
                <a:sym typeface="Eastman Grotesque"/>
              </a:rPr>
              <a:t>Fake Google Verification Page</a:t>
            </a:r>
          </a:p>
          <a:p>
            <a:pPr algn="l">
              <a:lnSpc>
                <a:spcPts val="4760"/>
              </a:lnSpc>
            </a:pPr>
          </a:p>
          <a:p>
            <a:pPr algn="l">
              <a:lnSpc>
                <a:spcPts val="4760"/>
              </a:lnSpc>
            </a:pPr>
            <a:r>
              <a:rPr lang="en-US" sz="3400">
                <a:solidFill>
                  <a:srgbClr val="00E8FF"/>
                </a:solidFill>
                <a:latin typeface="Eastman Grotesque"/>
                <a:ea typeface="Eastman Grotesque"/>
                <a:cs typeface="Eastman Grotesque"/>
                <a:sym typeface="Eastman Grotesque"/>
              </a:rPr>
              <a:t>Fake Instagram Login Page</a:t>
            </a:r>
          </a:p>
          <a:p>
            <a:pPr algn="l">
              <a:lnSpc>
                <a:spcPts val="4760"/>
              </a:lnSpc>
            </a:pPr>
            <a:r>
              <a:rPr lang="en-US" sz="3400">
                <a:solidFill>
                  <a:srgbClr val="00E8FF"/>
                </a:solidFill>
                <a:latin typeface="Eastman Grotesque"/>
                <a:ea typeface="Eastman Grotesque"/>
                <a:cs typeface="Eastman Grotesque"/>
                <a:sym typeface="Eastman Grotesque"/>
              </a:rPr>
              <a:t>Fake SendGrid Login Page</a:t>
            </a:r>
          </a:p>
          <a:p>
            <a:pPr algn="l">
              <a:lnSpc>
                <a:spcPts val="4760"/>
              </a:lnSpc>
            </a:pPr>
            <a:r>
              <a:rPr lang="en-US" sz="3400">
                <a:solidFill>
                  <a:srgbClr val="00E8FF"/>
                </a:solidFill>
                <a:latin typeface="Eastman Grotesque"/>
                <a:ea typeface="Eastman Grotesque"/>
                <a:cs typeface="Eastman Grotesque"/>
                <a:sym typeface="Eastman Grotesque"/>
              </a:rPr>
              <a:t>Fake Evri Delivery Page</a:t>
            </a:r>
          </a:p>
          <a:p>
            <a:pPr algn="l">
              <a:lnSpc>
                <a:spcPts val="4760"/>
              </a:lnSpc>
            </a:pPr>
          </a:p>
          <a:p>
            <a:pPr algn="l">
              <a:lnSpc>
                <a:spcPts val="4760"/>
              </a:lnSpc>
            </a:pPr>
            <a:r>
              <a:rPr lang="en-US" sz="3400">
                <a:solidFill>
                  <a:srgbClr val="00E8FF"/>
                </a:solidFill>
                <a:latin typeface="Eastman Grotesque"/>
                <a:ea typeface="Eastman Grotesque"/>
                <a:cs typeface="Eastman Grotesque"/>
                <a:sym typeface="Eastman Grotesque"/>
              </a:rPr>
              <a:t>Fake USPS Tracking Page</a:t>
            </a:r>
          </a:p>
          <a:p>
            <a:pPr algn="l">
              <a:lnSpc>
                <a:spcPts val="4760"/>
              </a:lnSpc>
            </a:pPr>
            <a:r>
              <a:rPr lang="en-US" sz="3400">
                <a:solidFill>
                  <a:srgbClr val="00E8FF"/>
                </a:solidFill>
                <a:latin typeface="Eastman Grotesque"/>
                <a:ea typeface="Eastman Grotesque"/>
                <a:cs typeface="Eastman Grotesque"/>
                <a:sym typeface="Eastman Grotesque"/>
              </a:rPr>
              <a:t>Fake GOV.UK Payment Page</a:t>
            </a:r>
          </a:p>
          <a:p>
            <a:pPr algn="ctr">
              <a:lnSpc>
                <a:spcPts val="4760"/>
              </a:lnSpc>
              <a:spcBef>
                <a:spcPct val="0"/>
              </a:spcBef>
            </a:pPr>
          </a:p>
        </p:txBody>
      </p:sp>
      <p:sp>
        <p:nvSpPr>
          <p:cNvPr name="TextBox 3" id="3"/>
          <p:cNvSpPr txBox="true"/>
          <p:nvPr/>
        </p:nvSpPr>
        <p:spPr>
          <a:xfrm rot="0">
            <a:off x="7258101" y="3705860"/>
            <a:ext cx="10810176" cy="6581140"/>
          </a:xfrm>
          <a:prstGeom prst="rect">
            <a:avLst/>
          </a:prstGeom>
        </p:spPr>
        <p:txBody>
          <a:bodyPr anchor="t" rtlCol="false" tIns="0" lIns="0" bIns="0" rIns="0">
            <a:spAutoFit/>
          </a:bodyPr>
          <a:lstStyle/>
          <a:p>
            <a:pPr algn="l">
              <a:lnSpc>
                <a:spcPts val="4759"/>
              </a:lnSpc>
              <a:spcBef>
                <a:spcPct val="0"/>
              </a:spcBef>
            </a:pPr>
            <a:r>
              <a:rPr lang="en-US" sz="3399">
                <a:solidFill>
                  <a:srgbClr val="FFFFFF"/>
                </a:solidFill>
                <a:latin typeface="Eastman Grotesque"/>
                <a:ea typeface="Eastman Grotesque"/>
                <a:cs typeface="Eastman Grotesque"/>
                <a:sym typeface="Eastman Grotesque"/>
              </a:rPr>
              <a:t>URL</a:t>
            </a:r>
            <a:r>
              <a:rPr lang="en-US" sz="3399">
                <a:solidFill>
                  <a:srgbClr val="FFFFFF"/>
                </a:solidFill>
                <a:latin typeface="Eastman Grotesque"/>
                <a:ea typeface="Eastman Grotesque"/>
                <a:cs typeface="Eastman Grotesque"/>
                <a:sym typeface="Eastman Grotesque"/>
              </a:rPr>
              <a:t> is not owned by Netflix</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Requests payment through an unfamiliar website</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Unusual instructions that differ from Google's normal verification process</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Hosted on a non-Instagram domain</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URL does not belong to SendGrid</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Requests payment or personal information to release a package</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Tracking page hosted outside USPS domains</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Requests financial information through an unofficial website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2505724"/>
            <a:ext cx="11335941" cy="8981426"/>
          </a:xfrm>
          <a:prstGeom prst="rect">
            <a:avLst/>
          </a:prstGeom>
        </p:spPr>
        <p:txBody>
          <a:bodyPr anchor="t" rtlCol="false" tIns="0" lIns="0" bIns="0" rIns="0">
            <a:spAutoFit/>
          </a:bodyPr>
          <a:lstStyle/>
          <a:p>
            <a:pPr algn="l">
              <a:lnSpc>
                <a:spcPts val="4760"/>
              </a:lnSpc>
            </a:pP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2" tooltip="https://www.aura.com/learn/how-to-identify-fake-websites#1.-Check-the-domain-name-closely"/>
              </a:rPr>
              <a:t>Check the domain name closely</a:t>
            </a:r>
            <a:r>
              <a:rPr lang="en-US" sz="3400">
                <a:solidFill>
                  <a:srgbClr val="FFFFFF"/>
                </a:solidFill>
                <a:latin typeface="Eastman Grotesque"/>
                <a:ea typeface="Eastman Grotesque"/>
                <a:cs typeface="Eastman Grotesque"/>
                <a:sym typeface="Eastman Grotesque"/>
              </a:rPr>
              <a:t> and domain age</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3" tooltip="https://www.aura.com/learn/how-to-identify-fake-websites#2.-Look-for-a-padlock-symbol-(but-don%E2%80%99t-trust-it-as-a-sole-means-of-verification)"/>
              </a:rPr>
              <a:t>Look for a padlock symbol</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4" tooltip="https://www.aura.com/learn/how-to-identify-fake-websites#3.-Use-a-website-checker-or-safe-browsing-tools"/>
              </a:rPr>
              <a:t>Use a website checker or safe browsing tools</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5" tooltip="https://www.aura.com/learn/how-to-identify-fake-websites#4.-Look-for-poor-spelling,-design-issues,-and-other-red-flags"/>
              </a:rPr>
              <a:t>Look for poor spelling, design issues, and other red flags</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6" tooltip="https://www.aura.com/learn/how-to-identify-fake-websites#6.-Be-wary-of-deals-that-seem-too-good-to-be-true"/>
              </a:rPr>
              <a:t>Be wary of deals that seem too good to be true</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7" tooltip="https://www.aura.com/learn/how-to-identify-fake-websites#7.-Look-for-user-reviews,-and-check-for-reports-of-scams"/>
              </a:rPr>
              <a:t>Look for user reviews, and check for reports of scams</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8" tooltip="https://www.aura.com/learn/how-to-identify-fake-websites#8.-Read-the-shipping-and-return-policy"/>
              </a:rPr>
              <a:t>Read the shipping and return policy</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9" tooltip="https://www.aura.com/learn/how-to-identify-fake-websites#9.-Beware-of-non---traditional-payment-options"/>
              </a:rPr>
              <a:t>Beware of non-traditional payment options</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10" tooltip="https://www.aura.com/learn/how-to-identify-fake-websites#10.-Don%E2%80%99t-be-conned-by-%E2%80%9Ctrust-signals%E2%80%9D-(awards,-security-logos,-etc.)"/>
              </a:rPr>
              <a:t>Don’t be conned by “trust signals”</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hlinkClick r:id="rId11" tooltip="https://www.aura.com/learn/how-to-identify-fake-websites#11.-Run-a-virus-scan-if-you-experience-numerous-ads-and-pop-ups"/>
              </a:rPr>
              <a:t>Run a virus scan</a:t>
            </a:r>
          </a:p>
          <a:p>
            <a:pPr algn="l" marL="734179" indent="-367090" lvl="1">
              <a:lnSpc>
                <a:spcPts val="4760"/>
              </a:lnSpc>
              <a:buAutoNum type="arabicPeriod" startAt="1"/>
            </a:pPr>
            <a:r>
              <a:rPr lang="en-US" sz="3400">
                <a:solidFill>
                  <a:srgbClr val="FFFFFF"/>
                </a:solidFill>
                <a:latin typeface="Eastman Grotesque"/>
                <a:ea typeface="Eastman Grotesque"/>
                <a:cs typeface="Eastman Grotesque"/>
                <a:sym typeface="Eastman Grotesque"/>
              </a:rPr>
              <a:t> Check the Website’s Encryption Certificate</a:t>
            </a:r>
          </a:p>
          <a:p>
            <a:pPr algn="l">
              <a:lnSpc>
                <a:spcPts val="4760"/>
              </a:lnSpc>
            </a:pPr>
          </a:p>
          <a:p>
            <a:pPr algn="l">
              <a:lnSpc>
                <a:spcPts val="4760"/>
              </a:lnSpc>
            </a:pPr>
          </a:p>
          <a:p>
            <a:pPr algn="l">
              <a:lnSpc>
                <a:spcPts val="4760"/>
              </a:lnSpc>
              <a:spcBef>
                <a:spcPct val="0"/>
              </a:spcBef>
            </a:pPr>
          </a:p>
        </p:txBody>
      </p:sp>
      <p:sp>
        <p:nvSpPr>
          <p:cNvPr name="TextBox 3" id="3"/>
          <p:cNvSpPr txBox="true"/>
          <p:nvPr/>
        </p:nvSpPr>
        <p:spPr>
          <a:xfrm rot="0">
            <a:off x="207169" y="501779"/>
            <a:ext cx="18021538" cy="1569465"/>
          </a:xfrm>
          <a:prstGeom prst="rect">
            <a:avLst/>
          </a:prstGeom>
        </p:spPr>
        <p:txBody>
          <a:bodyPr anchor="t" rtlCol="false" tIns="0" lIns="0" bIns="0" rIns="0">
            <a:spAutoFit/>
          </a:bodyPr>
          <a:lstStyle/>
          <a:p>
            <a:pPr algn="l">
              <a:lnSpc>
                <a:spcPts val="12719"/>
              </a:lnSpc>
              <a:spcBef>
                <a:spcPct val="0"/>
              </a:spcBef>
            </a:pPr>
            <a:r>
              <a:rPr lang="en-US" b="true" sz="9085">
                <a:solidFill>
                  <a:srgbClr val="00E8FF"/>
                </a:solidFill>
                <a:latin typeface="TT Supermolot Neue Bold"/>
                <a:ea typeface="TT Supermolot Neue Bold"/>
                <a:cs typeface="TT Supermolot Neue Bold"/>
                <a:sym typeface="TT Supermolot Neue Bold"/>
              </a:rPr>
              <a:t>WAYS TO IDENTIFY FAKE WEBSITES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26879" y="159703"/>
            <a:ext cx="10402252" cy="1518157"/>
          </a:xfrm>
          <a:prstGeom prst="rect">
            <a:avLst/>
          </a:prstGeom>
        </p:spPr>
        <p:txBody>
          <a:bodyPr anchor="t" rtlCol="false" tIns="0" lIns="0" bIns="0" rIns="0">
            <a:spAutoFit/>
          </a:bodyPr>
          <a:lstStyle/>
          <a:p>
            <a:pPr algn="ctr">
              <a:lnSpc>
                <a:spcPts val="12397"/>
              </a:lnSpc>
              <a:spcBef>
                <a:spcPct val="0"/>
              </a:spcBef>
            </a:pPr>
            <a:r>
              <a:rPr lang="en-US" b="true" sz="8855">
                <a:solidFill>
                  <a:srgbClr val="00E8FF"/>
                </a:solidFill>
                <a:latin typeface="TT Supermolot Neue Bold"/>
                <a:ea typeface="TT Supermolot Neue Bold"/>
                <a:cs typeface="TT Supermolot Neue Bold"/>
                <a:sym typeface="TT Supermolot Neue Bold"/>
              </a:rPr>
              <a:t>SOCIAL ENGNEERING</a:t>
            </a:r>
          </a:p>
        </p:txBody>
      </p:sp>
      <p:sp>
        <p:nvSpPr>
          <p:cNvPr name="TextBox 3" id="3"/>
          <p:cNvSpPr txBox="true"/>
          <p:nvPr/>
        </p:nvSpPr>
        <p:spPr>
          <a:xfrm rot="0">
            <a:off x="185312" y="1943634"/>
            <a:ext cx="17917377" cy="4780901"/>
          </a:xfrm>
          <a:prstGeom prst="rect">
            <a:avLst/>
          </a:prstGeom>
        </p:spPr>
        <p:txBody>
          <a:bodyPr anchor="t" rtlCol="false" tIns="0" lIns="0" bIns="0" rIns="0">
            <a:spAutoFit/>
          </a:bodyPr>
          <a:lstStyle/>
          <a:p>
            <a:pPr algn="l">
              <a:lnSpc>
                <a:spcPts val="4760"/>
              </a:lnSpc>
            </a:pPr>
            <a:r>
              <a:rPr lang="en-US" sz="3400">
                <a:solidFill>
                  <a:srgbClr val="FFFFFF"/>
                </a:solidFill>
                <a:latin typeface="Eastman Grotesque"/>
                <a:ea typeface="Eastman Grotesque"/>
                <a:cs typeface="Eastman Grotesque"/>
                <a:sym typeface="Eastman Grotesque"/>
              </a:rPr>
              <a:t>1.It is the “technique to influence” &amp; “persuasion to deceive” people to obtain the information.</a:t>
            </a:r>
          </a:p>
          <a:p>
            <a:pPr algn="l">
              <a:lnSpc>
                <a:spcPts val="4760"/>
              </a:lnSpc>
            </a:pPr>
            <a:r>
              <a:rPr lang="en-US" sz="3400">
                <a:solidFill>
                  <a:srgbClr val="FFFFFF"/>
                </a:solidFill>
                <a:latin typeface="Eastman Grotesque"/>
                <a:ea typeface="Eastman Grotesque"/>
                <a:cs typeface="Eastman Grotesque"/>
                <a:sym typeface="Eastman Grotesque"/>
              </a:rPr>
              <a:t>2.It exploits the fact that people are the weak link in security.</a:t>
            </a:r>
          </a:p>
          <a:p>
            <a:pPr algn="l">
              <a:lnSpc>
                <a:spcPts val="4760"/>
              </a:lnSpc>
            </a:pPr>
            <a:r>
              <a:rPr lang="en-US" sz="3400">
                <a:solidFill>
                  <a:srgbClr val="FFFFFF"/>
                </a:solidFill>
                <a:latin typeface="Eastman Grotesque"/>
                <a:ea typeface="Eastman Grotesque"/>
                <a:cs typeface="Eastman Grotesque"/>
                <a:sym typeface="Eastman Grotesque"/>
              </a:rPr>
              <a:t>3. Social engineers build the trust with the victim/person to gain the unauthorized information/access.</a:t>
            </a:r>
          </a:p>
          <a:p>
            <a:pPr algn="l">
              <a:lnSpc>
                <a:spcPts val="4760"/>
              </a:lnSpc>
            </a:pPr>
            <a:r>
              <a:rPr lang="en-US" sz="3400">
                <a:solidFill>
                  <a:srgbClr val="FFFFFF"/>
                </a:solidFill>
                <a:latin typeface="Eastman Grotesque"/>
                <a:ea typeface="Eastman Grotesque"/>
                <a:cs typeface="Eastman Grotesque"/>
                <a:sym typeface="Eastman Grotesque"/>
              </a:rPr>
              <a:t>4.Their goal is to fool someone into providing valuable information.</a:t>
            </a:r>
          </a:p>
          <a:p>
            <a:pPr algn="l">
              <a:lnSpc>
                <a:spcPts val="4760"/>
              </a:lnSpc>
            </a:pPr>
            <a:r>
              <a:rPr lang="en-US" sz="3400">
                <a:solidFill>
                  <a:srgbClr val="FFFFFF"/>
                </a:solidFill>
                <a:latin typeface="Eastman Grotesque"/>
                <a:ea typeface="Eastman Grotesque"/>
                <a:cs typeface="Eastman Grotesque"/>
                <a:sym typeface="Eastman Grotesque"/>
              </a:rPr>
              <a:t>5.Example: The attacker (social engineer) calling a user &amp; pretending to be a tech support person &amp; asking questions about the confidential files, passwords, etc.</a:t>
            </a:r>
          </a:p>
          <a:p>
            <a:pPr algn="l">
              <a:lnSpc>
                <a:spcPts val="476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142031" y="108826"/>
            <a:ext cx="18145969" cy="10791176"/>
          </a:xfrm>
          <a:prstGeom prst="rect">
            <a:avLst/>
          </a:prstGeom>
        </p:spPr>
        <p:txBody>
          <a:bodyPr anchor="t" rtlCol="false" tIns="0" lIns="0" bIns="0" rIns="0">
            <a:spAutoFit/>
          </a:bodyPr>
          <a:lstStyle/>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CLASSIFICATI</a:t>
            </a:r>
            <a:r>
              <a:rPr lang="en-US" b="true" sz="3400">
                <a:solidFill>
                  <a:srgbClr val="00E8FF"/>
                </a:solidFill>
                <a:latin typeface="TT Supermolot Neue Bold"/>
                <a:ea typeface="TT Supermolot Neue Bold"/>
                <a:cs typeface="TT Supermolot Neue Bold"/>
                <a:sym typeface="TT Supermolot Neue Bold"/>
              </a:rPr>
              <a:t>ON OF SOCIAL ENGINEERING</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 1. HUMAN BASED SOCIAL ENGINEERING</a:t>
            </a:r>
          </a:p>
          <a:p>
            <a:pPr algn="l">
              <a:lnSpc>
                <a:spcPts val="4760"/>
              </a:lnSpc>
              <a:spcBef>
                <a:spcPct val="0"/>
              </a:spcBef>
            </a:pPr>
            <a:r>
              <a:rPr lang="en-US" b="true" sz="3400">
                <a:solidFill>
                  <a:srgbClr val="FFFFFF"/>
                </a:solidFill>
                <a:latin typeface="TT Supermolot Neue Bold"/>
                <a:ea typeface="TT Supermolot Neue Bold"/>
                <a:cs typeface="TT Supermolot Neue Bold"/>
                <a:sym typeface="TT Supermolot Neue Bold"/>
              </a:rPr>
              <a:t> IT REFERS TO PERSON-TO-PERSON INTERACTION TO GET THE UNAUTHORIZED INFORMATION.</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 THE FOLLOWING ARE ITS DIFFERENT TYPES:</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I. IMPERSONATING AN EMPLOYEE OR VALID USER:</a:t>
            </a:r>
          </a:p>
          <a:p>
            <a:pPr algn="l">
              <a:lnSpc>
                <a:spcPts val="4760"/>
              </a:lnSpc>
              <a:spcBef>
                <a:spcPct val="0"/>
              </a:spcBef>
            </a:pPr>
            <a:r>
              <a:rPr lang="en-US" b="true" sz="3400">
                <a:solidFill>
                  <a:srgbClr val="FFFFFF"/>
                </a:solidFill>
                <a:latin typeface="TT Supermolot Neue Bold"/>
                <a:ea typeface="TT Supermolot Neue Bold"/>
                <a:cs typeface="TT Supermolot Neue Bold"/>
                <a:sym typeface="TT Supermolot Neue Bold"/>
              </a:rPr>
              <a:t>THE ATTACKER IMPERSONATES/POSES AS AN EMPLOYEE OF THE SAME ORGANIZATION TO TAKE THE ADVANTAGE FROM THE PEOPLE WHO ARE HELPFUL.</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II. POSING AS IMPORTANT USER:</a:t>
            </a:r>
          </a:p>
          <a:p>
            <a:pPr algn="l">
              <a:lnSpc>
                <a:spcPts val="4760"/>
              </a:lnSpc>
              <a:spcBef>
                <a:spcPct val="0"/>
              </a:spcBef>
            </a:pPr>
            <a:r>
              <a:rPr lang="en-US" b="true" sz="3400">
                <a:solidFill>
                  <a:srgbClr val="FFFFFF"/>
                </a:solidFill>
                <a:latin typeface="TT Supermolot Neue Bold"/>
                <a:ea typeface="TT Supermolot Neue Bold"/>
                <a:cs typeface="TT Supermolot Neue Bold"/>
                <a:sym typeface="TT Supermolot Neue Bold"/>
              </a:rPr>
              <a:t>THE ATTACKER PRETENDS TO BE A CEO/MANAGER WHO INTIMIDATES LOWER-LEVEL EMPLOYEE IN ORDER TO GAIN ACCESS TO THE SYSTEM.</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III. USING A THIRD PERSON:</a:t>
            </a:r>
          </a:p>
          <a:p>
            <a:pPr algn="l">
              <a:lnSpc>
                <a:spcPts val="4760"/>
              </a:lnSpc>
              <a:spcBef>
                <a:spcPct val="0"/>
              </a:spcBef>
            </a:pPr>
            <a:r>
              <a:rPr lang="en-US" b="true" sz="3400">
                <a:solidFill>
                  <a:srgbClr val="FFFFFF"/>
                </a:solidFill>
                <a:latin typeface="TT Supermolot Neue Bold"/>
                <a:ea typeface="TT Supermolot Neue Bold"/>
                <a:cs typeface="TT Supermolot Neue Bold"/>
                <a:sym typeface="TT Supermolot Neue Bold"/>
              </a:rPr>
              <a:t>THE ATTACKER PRETENDS TO HAVE PERMISSION FROM AN AUTHORIZED SOURCE/PERSON (WHO CANNOT BE CONTACTED FOR VERIFICATION) TO USE A SYSTEM.</a:t>
            </a:r>
          </a:p>
          <a:p>
            <a:pPr algn="l">
              <a:lnSpc>
                <a:spcPts val="4760"/>
              </a:lnSpc>
              <a:spcBef>
                <a:spcPct val="0"/>
              </a:spcBef>
            </a:pPr>
            <a:r>
              <a:rPr lang="en-US" b="true" sz="3400">
                <a:solidFill>
                  <a:srgbClr val="00E8FF"/>
                </a:solidFill>
                <a:latin typeface="TT Supermolot Neue Bold"/>
                <a:ea typeface="TT Supermolot Neue Bold"/>
                <a:cs typeface="TT Supermolot Neue Bold"/>
                <a:sym typeface="TT Supermolot Neue Bold"/>
              </a:rPr>
              <a:t>IV. CALLING TECHNICAL SUPPORT:</a:t>
            </a:r>
          </a:p>
          <a:p>
            <a:pPr algn="l">
              <a:lnSpc>
                <a:spcPts val="4760"/>
              </a:lnSpc>
              <a:spcBef>
                <a:spcPct val="0"/>
              </a:spcBef>
            </a:pPr>
            <a:r>
              <a:rPr lang="en-US" b="true" sz="3400">
                <a:solidFill>
                  <a:srgbClr val="FFFFFF"/>
                </a:solidFill>
                <a:latin typeface="TT Supermolot Neue Bold"/>
                <a:ea typeface="TT Supermolot Neue Bold"/>
                <a:cs typeface="TT Supermolot Neue Bold"/>
                <a:sym typeface="TT Supermolot Neue Bold"/>
              </a:rPr>
              <a:t>ATTACKER CALLS HELP DESK OR TECH SUPPORT PERSONNEL TO OBTAIN THE INFORMATION SINCE THEY ARE TRAINED TO HELP USERS.</a:t>
            </a:r>
          </a:p>
          <a:p>
            <a:pPr algn="l">
              <a:lnSpc>
                <a:spcPts val="4760"/>
              </a:lnSpc>
              <a:spcBef>
                <a:spcPct val="0"/>
              </a:spcBef>
            </a:pPr>
          </a:p>
          <a:p>
            <a:pPr algn="l">
              <a:lnSpc>
                <a:spcPts val="476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66675"/>
            <a:ext cx="18288000" cy="12581890"/>
          </a:xfrm>
          <a:prstGeom prst="rect">
            <a:avLst/>
          </a:prstGeom>
        </p:spPr>
        <p:txBody>
          <a:bodyPr anchor="t" rtlCol="false" tIns="0" lIns="0" bIns="0" rIns="0">
            <a:spAutoFit/>
          </a:bodyPr>
          <a:lstStyle/>
          <a:p>
            <a:pPr algn="l">
              <a:lnSpc>
                <a:spcPts val="4759"/>
              </a:lnSpc>
              <a:spcBef>
                <a:spcPct val="0"/>
              </a:spcBef>
            </a:pPr>
            <a:r>
              <a:rPr lang="en-US" sz="3399">
                <a:solidFill>
                  <a:srgbClr val="00E8FF"/>
                </a:solidFill>
                <a:latin typeface="Eastman Grotesque"/>
                <a:ea typeface="Eastman Grotesque"/>
                <a:cs typeface="Eastman Grotesque"/>
                <a:sym typeface="Eastman Grotesque"/>
              </a:rPr>
              <a:t>v. Shoulder surfing:</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It involves gathering information (usernames, passwords, etc.) by watching over a person’s shoulder while he/she logs into the system.</a:t>
            </a:r>
          </a:p>
          <a:p>
            <a:pPr algn="l">
              <a:lnSpc>
                <a:spcPts val="4759"/>
              </a:lnSpc>
              <a:spcBef>
                <a:spcPct val="0"/>
              </a:spcBef>
            </a:pPr>
            <a:r>
              <a:rPr lang="en-US" sz="3399">
                <a:solidFill>
                  <a:srgbClr val="00E8FF"/>
                </a:solidFill>
                <a:latin typeface="Eastman Grotesque"/>
                <a:ea typeface="Eastman Grotesque"/>
                <a:cs typeface="Eastman Grotesque"/>
                <a:sym typeface="Eastman Grotesque"/>
              </a:rPr>
              <a:t>vi. Dumpster diving (Scavenging/Binning):</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It involves looking in the trash/dustbin for information written on pieces of paper, computer printouts, etc.</a:t>
            </a:r>
          </a:p>
          <a:p>
            <a:pPr algn="l">
              <a:lnSpc>
                <a:spcPts val="4759"/>
              </a:lnSpc>
              <a:spcBef>
                <a:spcPct val="0"/>
              </a:spcBef>
            </a:pPr>
            <a:r>
              <a:rPr lang="en-US" sz="3399">
                <a:solidFill>
                  <a:srgbClr val="00E8FF"/>
                </a:solidFill>
                <a:latin typeface="Eastman Grotesque"/>
                <a:ea typeface="Eastman Grotesque"/>
                <a:cs typeface="Eastman Grotesque"/>
                <a:sym typeface="Eastman Grotesque"/>
              </a:rPr>
              <a:t>2. Computer based Social Engineering</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It refers to the attempts made to get the unauthorized information by using computer/software/internet.</a:t>
            </a:r>
          </a:p>
          <a:p>
            <a:pPr algn="l">
              <a:lnSpc>
                <a:spcPts val="4759"/>
              </a:lnSpc>
              <a:spcBef>
                <a:spcPct val="0"/>
              </a:spcBef>
            </a:pPr>
            <a:r>
              <a:rPr lang="en-US" sz="3399">
                <a:solidFill>
                  <a:srgbClr val="00E8FF"/>
                </a:solidFill>
                <a:latin typeface="Eastman Grotesque"/>
                <a:ea typeface="Eastman Grotesque"/>
                <a:cs typeface="Eastman Grotesque"/>
                <a:sym typeface="Eastman Grotesque"/>
              </a:rPr>
              <a:t>i. Fake emails:</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It involves the attacker sending fake emails (pretending as a legitimate email) to a number of users in order to make the users reveal their sensitive information such as usernames, passwords, credit card details, etc. It is also called Phishing.</a:t>
            </a:r>
          </a:p>
          <a:p>
            <a:pPr algn="l">
              <a:lnSpc>
                <a:spcPts val="4759"/>
              </a:lnSpc>
              <a:spcBef>
                <a:spcPct val="0"/>
              </a:spcBef>
            </a:pPr>
            <a:r>
              <a:rPr lang="en-US" sz="3399">
                <a:solidFill>
                  <a:srgbClr val="00E8FF"/>
                </a:solidFill>
                <a:latin typeface="Eastman Grotesque"/>
                <a:ea typeface="Eastman Grotesque"/>
                <a:cs typeface="Eastman Grotesque"/>
                <a:sym typeface="Eastman Grotesque"/>
              </a:rPr>
              <a:t>ii. Email attachments:</a:t>
            </a:r>
          </a:p>
          <a:p>
            <a:pPr algn="l">
              <a:lnSpc>
                <a:spcPts val="4759"/>
              </a:lnSpc>
              <a:spcBef>
                <a:spcPct val="0"/>
              </a:spcBef>
            </a:pPr>
            <a:r>
              <a:rPr lang="en-US" sz="3399">
                <a:solidFill>
                  <a:srgbClr val="FFFFFF"/>
                </a:solidFill>
                <a:latin typeface="Eastman Grotesque"/>
                <a:ea typeface="Eastman Grotesque"/>
                <a:cs typeface="Eastman Grotesque"/>
                <a:sym typeface="Eastman Grotesque"/>
              </a:rPr>
              <a:t>It involves sending malicious codes to victim’s system in the form of an email attachment. The virus, worms, etc. which will be present in the email attachment will be automatically executed if the victim opens the attachment.</a:t>
            </a:r>
          </a:p>
          <a:p>
            <a:pPr algn="l">
              <a:lnSpc>
                <a:spcPts val="4759"/>
              </a:lnSpc>
              <a:spcBef>
                <a:spcPct val="0"/>
              </a:spcBef>
            </a:pPr>
          </a:p>
          <a:p>
            <a:pPr algn="l">
              <a:lnSpc>
                <a:spcPts val="4759"/>
              </a:lnSpc>
              <a:spcBef>
                <a:spcPct val="0"/>
              </a:spcBef>
            </a:pPr>
          </a:p>
          <a:p>
            <a:pPr algn="l">
              <a:lnSpc>
                <a:spcPts val="4759"/>
              </a:lnSpc>
              <a:spcBef>
                <a:spcPct val="0"/>
              </a:spcBef>
            </a:pPr>
          </a:p>
          <a:p>
            <a:pPr algn="l">
              <a:lnSpc>
                <a:spcPts val="475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176913" y="-76200"/>
            <a:ext cx="18111087" cy="8987377"/>
          </a:xfrm>
          <a:prstGeom prst="rect">
            <a:avLst/>
          </a:prstGeom>
        </p:spPr>
        <p:txBody>
          <a:bodyPr anchor="t" rtlCol="false" tIns="0" lIns="0" bIns="0" rIns="0">
            <a:spAutoFit/>
          </a:bodyPr>
          <a:lstStyle/>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III. P</a:t>
            </a:r>
            <a:r>
              <a:rPr lang="en-US" b="true" sz="3166">
                <a:solidFill>
                  <a:srgbClr val="00E8FF"/>
                </a:solidFill>
                <a:latin typeface="TT Supermolot Neue Bold"/>
                <a:ea typeface="TT Supermolot Neue Bold"/>
                <a:cs typeface="TT Supermolot Neue Bold"/>
                <a:sym typeface="TT Supermolot Neue Bold"/>
              </a:rPr>
              <a:t>OP-UP WINDOWS:</a:t>
            </a:r>
          </a:p>
          <a:p>
            <a:pPr algn="l">
              <a:lnSpc>
                <a:spcPts val="4432"/>
              </a:lnSpc>
              <a:spcBef>
                <a:spcPct val="0"/>
              </a:spcBef>
            </a:pPr>
            <a:r>
              <a:rPr lang="en-US" b="true" sz="3166">
                <a:solidFill>
                  <a:srgbClr val="FFFFFF"/>
                </a:solidFill>
                <a:latin typeface="TT Supermolot Neue Bold"/>
                <a:ea typeface="TT Supermolot Neue Bold"/>
                <a:cs typeface="TT Supermolot Neue Bold"/>
                <a:sym typeface="TT Supermolot Neue Bold"/>
              </a:rPr>
              <a:t>THEY ARE USED SIMILAR TO EMAIL ATTACHMENTS BUT THEY ENCOURAGE THE VICTIM TO CLICK ON SPECIAL OFFERS OR FREE STUFFS SO THAT THE MALICIOUS CODE CAN BE INSTALLED TO THE SYSTEM.</a:t>
            </a:r>
          </a:p>
          <a:p>
            <a:pPr algn="l">
              <a:lnSpc>
                <a:spcPts val="4432"/>
              </a:lnSpc>
              <a:spcBef>
                <a:spcPct val="0"/>
              </a:spcBef>
            </a:pPr>
          </a:p>
          <a:p>
            <a:pPr algn="l">
              <a:lnSpc>
                <a:spcPts val="4432"/>
              </a:lnSpc>
              <a:spcBef>
                <a:spcPct val="0"/>
              </a:spcBef>
            </a:pPr>
          </a:p>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EFFECTS OF SOCIAL ENGINEERING</a:t>
            </a:r>
          </a:p>
          <a:p>
            <a:pPr algn="l">
              <a:lnSpc>
                <a:spcPts val="4432"/>
              </a:lnSpc>
              <a:spcBef>
                <a:spcPct val="0"/>
              </a:spcBef>
            </a:pPr>
            <a:r>
              <a:rPr lang="en-US" b="true" sz="3166">
                <a:solidFill>
                  <a:srgbClr val="FFFFFF"/>
                </a:solidFill>
                <a:latin typeface="TT Supermolot Neue Bold"/>
                <a:ea typeface="TT Supermolot Neue Bold"/>
                <a:cs typeface="TT Supermolot Neue Bold"/>
                <a:sym typeface="TT Supermolot Neue Bold"/>
              </a:rPr>
              <a:t>LOSS/ALTERING OF MEDICAL &amp; HEALTHCARE INFORMATION, CORPORATE FINANCIAL DATA, ELECTRONIC FUNDS TRANSFERS, ETC.</a:t>
            </a:r>
          </a:p>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1. LOSS OF CUSTOMERS</a:t>
            </a:r>
          </a:p>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2.LOSS OF FUNDS</a:t>
            </a:r>
          </a:p>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3.LOSS OF TRUST</a:t>
            </a:r>
          </a:p>
          <a:p>
            <a:pPr algn="l">
              <a:lnSpc>
                <a:spcPts val="4432"/>
              </a:lnSpc>
              <a:spcBef>
                <a:spcPct val="0"/>
              </a:spcBef>
            </a:pPr>
            <a:r>
              <a:rPr lang="en-US" b="true" sz="3166">
                <a:solidFill>
                  <a:srgbClr val="00E8FF"/>
                </a:solidFill>
                <a:latin typeface="TT Supermolot Neue Bold"/>
                <a:ea typeface="TT Supermolot Neue Bold"/>
                <a:cs typeface="TT Supermolot Neue Bold"/>
                <a:sym typeface="TT Supermolot Neue Bold"/>
              </a:rPr>
              <a:t>4.COLLAPSE OF THE ORGANIZATION</a:t>
            </a:r>
          </a:p>
          <a:p>
            <a:pPr algn="l">
              <a:lnSpc>
                <a:spcPts val="4432"/>
              </a:lnSpc>
              <a:spcBef>
                <a:spcPct val="0"/>
              </a:spcBef>
            </a:pPr>
          </a:p>
          <a:p>
            <a:pPr algn="l">
              <a:lnSpc>
                <a:spcPts val="4432"/>
              </a:lnSpc>
              <a:spcBef>
                <a:spcPct val="0"/>
              </a:spcBef>
            </a:pPr>
          </a:p>
          <a:p>
            <a:pPr algn="l">
              <a:lnSpc>
                <a:spcPts val="4432"/>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79900" y="123549"/>
            <a:ext cx="18208100" cy="7055422"/>
          </a:xfrm>
          <a:prstGeom prst="rect">
            <a:avLst/>
          </a:prstGeom>
        </p:spPr>
        <p:txBody>
          <a:bodyPr anchor="t" rtlCol="false" tIns="0" lIns="0" bIns="0" rIns="0">
            <a:spAutoFit/>
          </a:bodyPr>
          <a:lstStyle/>
          <a:p>
            <a:pPr algn="l">
              <a:lnSpc>
                <a:spcPts val="4343"/>
              </a:lnSpc>
            </a:pPr>
            <a:r>
              <a:rPr lang="en-US" b="true" sz="3102">
                <a:solidFill>
                  <a:srgbClr val="FFFFFF"/>
                </a:solidFill>
                <a:latin typeface="TT Supermolot Neue Bold"/>
                <a:ea typeface="TT Supermolot Neue Bold"/>
                <a:cs typeface="TT Supermolot Neue Bold"/>
                <a:sym typeface="TT Supermolot Neue Bold"/>
              </a:rPr>
              <a:t>COUNTER MEASURES (SECURITY) AGAINST SOCIAL ENGINEERING</a:t>
            </a:r>
          </a:p>
          <a:p>
            <a:pPr algn="l">
              <a:lnSpc>
                <a:spcPts val="4343"/>
              </a:lnSpc>
            </a:pPr>
          </a:p>
          <a:p>
            <a:pPr algn="l">
              <a:lnSpc>
                <a:spcPts val="4343"/>
              </a:lnSpc>
              <a:spcBef>
                <a:spcPct val="0"/>
              </a:spcBef>
            </a:pPr>
            <a:r>
              <a:rPr lang="en-US" b="true" sz="3102">
                <a:solidFill>
                  <a:srgbClr val="00E8FF"/>
                </a:solidFill>
                <a:latin typeface="TT Supermolot Neue Bold"/>
                <a:ea typeface="TT Supermolot Neue Bold"/>
                <a:cs typeface="TT Supermolot Neue Bold"/>
                <a:sym typeface="TT Supermolot Neue Bold"/>
              </a:rPr>
              <a:t>1. </a:t>
            </a:r>
            <a:r>
              <a:rPr lang="en-US" b="true" sz="3102">
                <a:solidFill>
                  <a:srgbClr val="FFFFFF"/>
                </a:solidFill>
                <a:latin typeface="TT Supermolot Neue Bold"/>
                <a:ea typeface="TT Supermolot Neue Bold"/>
                <a:cs typeface="TT Supermolot Neue Bold"/>
                <a:sym typeface="TT Supermolot Neue Bold"/>
              </a:rPr>
              <a:t>Do not share cardnumbers,passwords,otp</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2.for identifying fake calls confirm with the original phone no. and ask about that call.</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3.Strict policies about service desk staff, not to ask for personal/sensitive information.</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4.report to the  National Cyber Crime Reporting Portal (NCRP) or State Cyber Security Bureaus or helpline 1930</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5.do not pick up calls from unknown number before verifying it.</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6.do not join whatsapp group that  say  you about the money skims they first develop trust  and then the money .</a:t>
            </a:r>
          </a:p>
          <a:p>
            <a:pPr algn="l">
              <a:lnSpc>
                <a:spcPts val="4343"/>
              </a:lnSpc>
              <a:spcBef>
                <a:spcPct val="0"/>
              </a:spcBef>
            </a:pPr>
            <a:r>
              <a:rPr lang="en-US" b="true" sz="3102">
                <a:solidFill>
                  <a:srgbClr val="FFFFFF"/>
                </a:solidFill>
                <a:latin typeface="TT Supermolot Neue Bold"/>
                <a:ea typeface="TT Supermolot Neue Bold"/>
                <a:cs typeface="TT Supermolot Neue Bold"/>
                <a:sym typeface="TT Supermolot Neue Bold"/>
              </a:rPr>
              <a:t>7.you need to be fearless and inform to helpline or  NCPR.</a:t>
            </a:r>
          </a:p>
          <a:p>
            <a:pPr algn="l">
              <a:lnSpc>
                <a:spcPts val="4343"/>
              </a:lnSpc>
              <a:spcBef>
                <a:spcPct val="0"/>
              </a:spcBef>
            </a:pPr>
          </a:p>
          <a:p>
            <a:pPr algn="l">
              <a:lnSpc>
                <a:spcPts val="4343"/>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0" y="-76200"/>
            <a:ext cx="18496998" cy="12358371"/>
          </a:xfrm>
          <a:prstGeom prst="rect">
            <a:avLst/>
          </a:prstGeom>
        </p:spPr>
        <p:txBody>
          <a:bodyPr anchor="t" rtlCol="false" tIns="0" lIns="0" bIns="0" rIns="0">
            <a:spAutoFit/>
          </a:bodyPr>
          <a:lstStyle/>
          <a:p>
            <a:pPr algn="l">
              <a:lnSpc>
                <a:spcPts val="4479"/>
              </a:lnSpc>
            </a:pPr>
            <a:r>
              <a:rPr lang="en-US" b="true" sz="3199">
                <a:solidFill>
                  <a:srgbClr val="00E8FF"/>
                </a:solidFill>
                <a:latin typeface="TT Supermolot Neue Bold"/>
                <a:ea typeface="TT Supermolot Neue Bold"/>
                <a:cs typeface="TT Supermolot Neue Bold"/>
                <a:sym typeface="TT Supermolot Neue Bold"/>
              </a:rPr>
              <a:t>REAL WORLD EXAMPLES OF PHISHING EMAIL</a:t>
            </a:r>
          </a:p>
          <a:p>
            <a:pPr algn="l">
              <a:lnSpc>
                <a:spcPts val="4479"/>
              </a:lnSpc>
            </a:pPr>
            <a:r>
              <a:rPr lang="en-US" sz="3199">
                <a:solidFill>
                  <a:srgbClr val="FFFFFF"/>
                </a:solidFill>
                <a:latin typeface="Eastman Grotesque"/>
                <a:ea typeface="Eastman Grotesque"/>
                <a:cs typeface="Eastman Grotesque"/>
                <a:sym typeface="Eastman Grotesque"/>
              </a:rPr>
              <a:t>1. The Microsoft 365 'Password Expires Today' Email</a:t>
            </a:r>
          </a:p>
          <a:p>
            <a:pPr algn="l">
              <a:lnSpc>
                <a:spcPts val="4479"/>
              </a:lnSpc>
              <a:spcBef>
                <a:spcPct val="0"/>
              </a:spcBef>
            </a:pPr>
            <a:r>
              <a:rPr lang="en-US" sz="3199">
                <a:solidFill>
                  <a:srgbClr val="FFFFFF"/>
                </a:solidFill>
                <a:latin typeface="Eastman Grotesque"/>
                <a:ea typeface="Eastman Grotesque"/>
                <a:cs typeface="Eastman Grotesque"/>
                <a:sym typeface="Eastman Grotesque"/>
              </a:rPr>
              <a:t>From: Microsoft 365 &lt;no-reply@m365-account-security.com&gt;. Subject: 'Action required: </a:t>
            </a:r>
            <a:r>
              <a:rPr lang="en-US" sz="3199">
                <a:solidFill>
                  <a:srgbClr val="FFFFFF"/>
                </a:solidFill>
                <a:latin typeface="Eastman Grotesque"/>
                <a:ea typeface="Eastman Grotesque"/>
                <a:cs typeface="Eastman Grotesque"/>
                <a:sym typeface="Eastman Grotesque"/>
              </a:rPr>
              <a:t>Your password expires in 4 hours.' Body says click here to keep your current password. The link goes to a pixel-perfect fake Microsoft login that captures both your password and your MFA code in real time (adversary-in-the-middle, or AiTM).</a:t>
            </a:r>
          </a:p>
          <a:p>
            <a:pPr algn="l">
              <a:lnSpc>
                <a:spcPts val="4479"/>
              </a:lnSpc>
              <a:spcBef>
                <a:spcPct val="0"/>
              </a:spcBef>
            </a:pPr>
          </a:p>
          <a:p>
            <a:pPr algn="l">
              <a:lnSpc>
                <a:spcPts val="4479"/>
              </a:lnSpc>
              <a:spcBef>
                <a:spcPct val="0"/>
              </a:spcBef>
            </a:pPr>
            <a:r>
              <a:rPr lang="en-US" sz="3199">
                <a:solidFill>
                  <a:srgbClr val="FFFFFF"/>
                </a:solidFill>
                <a:latin typeface="Eastman Grotesque"/>
                <a:ea typeface="Eastman Grotesque"/>
                <a:cs typeface="Eastman Grotesque"/>
                <a:sym typeface="Eastman Grotesque"/>
              </a:rPr>
              <a:t>Red flags: Microsoft never sends password-expiry emails from non-microsoft.com domains, and they never include a 'keep current password' button. Verify by: opening portal.office.com directly in your browser — never via an email link.</a:t>
            </a:r>
          </a:p>
          <a:p>
            <a:pPr algn="l">
              <a:lnSpc>
                <a:spcPts val="4479"/>
              </a:lnSpc>
              <a:spcBef>
                <a:spcPct val="0"/>
              </a:spcBef>
            </a:pPr>
            <a:r>
              <a:rPr lang="en-US" sz="3199">
                <a:solidFill>
                  <a:srgbClr val="FFFFFF"/>
                </a:solidFill>
                <a:latin typeface="Eastman Grotesque"/>
                <a:ea typeface="Eastman Grotesque"/>
                <a:cs typeface="Eastman Grotesque"/>
                <a:sym typeface="Eastman Grotesque"/>
              </a:rPr>
              <a:t>2. The CEO Wire Transfer (Business Email Compromise)</a:t>
            </a:r>
          </a:p>
          <a:p>
            <a:pPr algn="l">
              <a:lnSpc>
                <a:spcPts val="4479"/>
              </a:lnSpc>
              <a:spcBef>
                <a:spcPct val="0"/>
              </a:spcBef>
            </a:pPr>
            <a:r>
              <a:rPr lang="en-US" sz="3199">
                <a:solidFill>
                  <a:srgbClr val="FFFFFF"/>
                </a:solidFill>
                <a:latin typeface="Eastman Grotesque"/>
                <a:ea typeface="Eastman Grotesque"/>
                <a:cs typeface="Eastman Grotesque"/>
                <a:sym typeface="Eastman Grotesque"/>
              </a:rPr>
              <a:t>From: 'Sarah Chen, CEO' &lt;sarah.chen.ceo@gmail.com&gt;. Subject: 'Quick favor — are you at your desk?' First message asks if you're available. Second message asks you to wire $48,000 to a 'new acquisition vendor' before end of day, and to keep it confidential because of the deal. The reply-to is a lookalike domain.</a:t>
            </a:r>
          </a:p>
          <a:p>
            <a:pPr algn="l">
              <a:lnSpc>
                <a:spcPts val="4479"/>
              </a:lnSpc>
              <a:spcBef>
                <a:spcPct val="0"/>
              </a:spcBef>
            </a:pPr>
          </a:p>
          <a:p>
            <a:pPr algn="l">
              <a:lnSpc>
                <a:spcPts val="4479"/>
              </a:lnSpc>
              <a:spcBef>
                <a:spcPct val="0"/>
              </a:spcBef>
            </a:pPr>
            <a:r>
              <a:rPr lang="en-US" sz="3199">
                <a:solidFill>
                  <a:srgbClr val="FFFFFF"/>
                </a:solidFill>
                <a:latin typeface="Eastman Grotesque"/>
                <a:ea typeface="Eastman Grotesque"/>
                <a:cs typeface="Eastman Grotesque"/>
                <a:sym typeface="Eastman Grotesque"/>
              </a:rPr>
              <a:t>Red flags: personal Gmail address for a CEO, urgency + secrecy combo, money movement to a new account. Verify by: calling the CEO on a known number. Never reply to the email.</a:t>
            </a:r>
          </a:p>
          <a:p>
            <a:pPr algn="l">
              <a:lnSpc>
                <a:spcPts val="4479"/>
              </a:lnSpc>
              <a:spcBef>
                <a:spcPct val="0"/>
              </a:spcBef>
            </a:pPr>
          </a:p>
          <a:p>
            <a:pPr algn="l">
              <a:lnSpc>
                <a:spcPts val="4479"/>
              </a:lnSpc>
              <a:spcBef>
                <a:spcPct val="0"/>
              </a:spcBef>
            </a:pPr>
          </a:p>
          <a:p>
            <a:pPr algn="l">
              <a:lnSpc>
                <a:spcPts val="4479"/>
              </a:lnSpc>
              <a:spcBef>
                <a:spcPct val="0"/>
              </a:spcBef>
            </a:pPr>
          </a:p>
          <a:p>
            <a:pPr algn="l">
              <a:lnSpc>
                <a:spcPts val="447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21633"/>
        </a:solidFill>
      </p:bgPr>
    </p:bg>
    <p:spTree>
      <p:nvGrpSpPr>
        <p:cNvPr id="1" name=""/>
        <p:cNvGrpSpPr/>
        <p:nvPr/>
      </p:nvGrpSpPr>
      <p:grpSpPr>
        <a:xfrm>
          <a:off x="0" y="0"/>
          <a:ext cx="0" cy="0"/>
          <a:chOff x="0" y="0"/>
          <a:chExt cx="0" cy="0"/>
        </a:xfrm>
      </p:grpSpPr>
      <p:sp>
        <p:nvSpPr>
          <p:cNvPr name="TextBox 2" id="2"/>
          <p:cNvSpPr txBox="true"/>
          <p:nvPr/>
        </p:nvSpPr>
        <p:spPr>
          <a:xfrm rot="0">
            <a:off x="6250596" y="4210367"/>
            <a:ext cx="5107662" cy="1790065"/>
          </a:xfrm>
          <a:prstGeom prst="rect">
            <a:avLst/>
          </a:prstGeom>
        </p:spPr>
        <p:txBody>
          <a:bodyPr anchor="t" rtlCol="false" tIns="0" lIns="0" bIns="0" rIns="0">
            <a:spAutoFit/>
          </a:bodyPr>
          <a:lstStyle/>
          <a:p>
            <a:pPr algn="ctr">
              <a:lnSpc>
                <a:spcPts val="4759"/>
              </a:lnSpc>
            </a:pPr>
            <a:r>
              <a:rPr lang="en-US" b="true" sz="3399">
                <a:solidFill>
                  <a:srgbClr val="00E8FF"/>
                </a:solidFill>
                <a:latin typeface="TT Supermolot Neue Bold"/>
                <a:ea typeface="TT Supermolot Neue Bold"/>
                <a:cs typeface="TT Supermolot Neue Bold"/>
                <a:sym typeface="TT Supermolot Neue Bold"/>
              </a:rPr>
              <a:t>FOR AN INTERACTIVE QUIZ</a:t>
            </a:r>
          </a:p>
          <a:p>
            <a:pPr algn="ctr">
              <a:lnSpc>
                <a:spcPts val="4759"/>
              </a:lnSpc>
            </a:pPr>
            <a:r>
              <a:rPr lang="en-US" b="true" sz="3399">
                <a:solidFill>
                  <a:srgbClr val="00E8FF"/>
                </a:solidFill>
                <a:latin typeface="TT Supermolot Neue Bold"/>
                <a:ea typeface="TT Supermolot Neue Bold"/>
                <a:cs typeface="TT Supermolot Neue Bold"/>
                <a:sym typeface="TT Supermolot Neue Bold"/>
              </a:rPr>
              <a:t>https://j.vivicon.eu </a:t>
            </a:r>
          </a:p>
          <a:p>
            <a:pPr algn="ctr">
              <a:lnSpc>
                <a:spcPts val="4759"/>
              </a:lnSpc>
              <a:spcBef>
                <a:spcPct val="0"/>
              </a:spcBef>
            </a:pPr>
            <a:r>
              <a:rPr lang="en-US" b="true" sz="3399">
                <a:solidFill>
                  <a:srgbClr val="00E8FF"/>
                </a:solidFill>
                <a:latin typeface="TT Supermolot Neue Bold"/>
                <a:ea typeface="TT Supermolot Neue Bold"/>
                <a:cs typeface="TT Supermolot Neue Bold"/>
                <a:sym typeface="TT Supermolot Neue Bold"/>
              </a:rPr>
              <a:t>code=aqic</a:t>
            </a:r>
          </a:p>
        </p:txBody>
      </p:sp>
      <p:pic>
        <p:nvPicPr>
          <p:cNvPr name="Picture 3" id="3"/>
          <p:cNvPicPr>
            <a:picLocks noChangeAspect="true"/>
          </p:cNvPicPr>
          <p:nvPr/>
        </p:nvPicPr>
        <p:blipFill>
          <a:blip r:embed="rId2"/>
          <a:stretch>
            <a:fillRect/>
          </a:stretch>
        </p:blipFill>
        <p:spPr>
          <a:xfrm rot="0">
            <a:off x="-2168373" y="-1520190"/>
            <a:ext cx="21945600" cy="1332738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21633"/>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828800" y="-1828800"/>
            <a:ext cx="21945600" cy="1332738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3275"/>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828800" y="-1828800"/>
            <a:ext cx="21945600" cy="1332738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3275"/>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828800" y="-1828800"/>
            <a:ext cx="21945600" cy="13327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DAHUNd0wdgI</dc:identifier>
  <dcterms:modified xsi:type="dcterms:W3CDTF">2011-08-01T06:04:30Z</dcterms:modified>
  <cp:revision>1</cp:revision>
  <dc:title>phishing</dc:title>
</cp:coreProperties>
</file>